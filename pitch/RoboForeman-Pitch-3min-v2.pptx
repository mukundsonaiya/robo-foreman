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Everyone wants to contribute to open source. Almost nobody knows where to start.</a:t>
            </a:r>
          </a:p>
          <a:p>
            <a:r>
              <a:t>Roboforeman takes you from zero to your first real contribution — without ever leaving Cursor.</a:t>
            </a:r>
          </a:p>
          <a:p>
            <a:r>
              <a:t>Cursor's AI is the world-class builder. Roboforeman is the foreman who briefs it. Here's how.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Meet two people — a developer and a non-developer. Both are supercharged by Cursor,</a:t>
            </a:r>
          </a:p>
          <a:p>
            <a:r>
              <a:t>the most amazing AI IDE today. Cursor already makes them formidable.</a:t>
            </a:r>
          </a:p>
          <a:p>
            <a:r>
              <a:t>But both of them — and almost everyone — want to contribute to open source.</a:t>
            </a:r>
          </a:p>
          <a:p>
            <a:r>
              <a:t>And almost nobody knows where to start. Open a real repo and you freeze: Where do I even start?</a:t>
            </a:r>
          </a:p>
          <a:p>
            <a:r>
              <a:t>What if I break their rules? Huge, scary codebase. That fear is the barrier — not their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Roboforeman changes that. It's a Cursor plugin — it lives right in your editor.</a:t>
            </a:r>
          </a:p>
          <a:p>
            <a:r>
              <a:t>You pick any open issue or task in the repo. Roboforeman doesn't find it for you —</a:t>
            </a:r>
          </a:p>
          <a:p>
            <a:r>
              <a:t>you choose. Then it does the scary parts: reads the project's contributing guide and</a:t>
            </a:r>
          </a:p>
          <a:p>
            <a:r>
              <a:t>conventions, and briefs Cursor's own AI to build the fix their way.</a:t>
            </a:r>
          </a:p>
          <a:p>
            <a:r>
              <a:t>You're not alone in a giant repo anymore — you've got a foreman. Watch.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here is happening inside Cursor. I pick an open issue in the repo — my choice.</a:t>
            </a:r>
          </a:p>
          <a:p>
            <a:r>
              <a:t>Roboforeman onboards: learns their setup, their commit style, their contributing rules.</a:t>
            </a:r>
          </a:p>
          <a:p>
            <a:r>
              <a:t>Then Cursor's agent implements the fix to their definition of done — tests, minimal diff.</a:t>
            </a:r>
          </a:p>
          <a:p>
            <a:r>
              <a:t>And it opens a clean draft pull request. Notice — none of my AI config leaked into the diff.</a:t>
            </a:r>
          </a:p>
          <a:p>
            <a:r>
              <a:t>That's guaranteed. You choose the work; Roboforeman and Cursor help you ship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Could you prompt Cursor to do bits of this? Sure. But matching a stranger's conventions</a:t>
            </a:r>
          </a:p>
          <a:p>
            <a:r>
              <a:t>and shipping a PR that actually passes review — consistently — that's the hard part,</a:t>
            </a:r>
          </a:p>
          <a:p>
            <a:r>
              <a:t>and that's the automation. You pick the issue; Roboforeman briefs Cursor's agent to solve it.</a:t>
            </a:r>
          </a:p>
          <a:p>
            <a:r>
              <a:t>And the same foreman works on your own repo too: point it at your project and it briefs</a:t>
            </a:r>
          </a:p>
          <a:p>
            <a:r>
              <a:t>Cursor's AI so you build features faster. One foreman, any 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Under the cartoon, it's a real, standard Cursor plugin — built on Cursor's own skills,</a:t>
            </a:r>
          </a:p>
          <a:p>
            <a:r>
              <a:t>agent, hooks, and Canvas. The decisions are AI, reading the project's live docs with Exa;</a:t>
            </a:r>
          </a:p>
          <a:p>
            <a:r>
              <a:t>the plumbing is deterministic and never-destructive. We even gave the foreman a voice</a:t>
            </a:r>
          </a:p>
          <a:p>
            <a:r>
              <a:t>with ElevenLabs. Cursor does the building — Roboforeman makes sure it builds the right 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source shouldn't be scary. With Roboforeman and Cursor, your first contribution</a:t>
            </a:r>
          </a:p>
          <a:p>
            <a:r>
              <a:t>is one command away. You pick any open issue — Roboforeman briefs Cursor's agent to solve it.</a:t>
            </a:r>
          </a:p>
          <a:p>
            <a:r>
              <a:t>Can we fix it? Yes we can.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2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hardhat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41732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2240280"/>
            <a:ext cx="10058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26A00"/>
                </a:solidFill>
                <a:latin typeface="Helvetica"/>
                <a:ea typeface="Helvetica"/>
                <a:cs typeface="Helvetica"/>
              </a:rPr>
              <a:t>TEAM SMARTSENSE  ·  CURSOR HACKATHON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51760"/>
            <a:ext cx="1051560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60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roboforeman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794760"/>
            <a:ext cx="1024128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 i="0">
                <a:solidFill>
                  <a:srgbClr val="D0D0C8"/>
                </a:solidFill>
                <a:latin typeface="Helvetica Neue"/>
                <a:ea typeface="Helvetica Neue"/>
                <a:cs typeface="Helvetica Neue"/>
              </a:rPr>
              <a:t>From zero to your first open-source contribution
— right inside Cursor.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212080"/>
            <a:ext cx="102412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9A9A9A"/>
                </a:solidFill>
                <a:latin typeface="Helvetica"/>
                <a:ea typeface="Helvetica"/>
                <a:cs typeface="Helvetica"/>
              </a:rPr>
              <a:t>Cursor's AI builds. Roboforeman briefs it. Doesn't replace Cursor — directs Cursor's agent.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02920"/>
            <a:ext cx="502920" cy="73152"/>
          </a:xfrm>
          <a:prstGeom prst="rect">
            <a:avLst/>
          </a:prstGeom>
          <a:solidFill>
            <a:srgbClr val="C2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5486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26A00"/>
                </a:solidFill>
                <a:latin typeface="Helvetica"/>
                <a:ea typeface="Helvetica"/>
                <a:cs typeface="Helvetica"/>
              </a:rPr>
              <a:t>THE SAME DESIRE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107899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41414"/>
                </a:solidFill>
                <a:latin typeface="Helvetica Neue"/>
                <a:ea typeface="Helvetica Neue"/>
                <a:cs typeface="Helvetica Neue"/>
              </a:rPr>
              <a:t>Two people. Both supercharged by Cursor.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74519"/>
            <a:ext cx="5349240" cy="19659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74519"/>
            <a:ext cx="73152" cy="1965960"/>
          </a:xfrm>
          <a:prstGeom prst="rect">
            <a:avLst/>
          </a:prstGeom>
          <a:solidFill>
            <a:srgbClr val="C2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011680"/>
            <a:ext cx="47548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41414"/>
                </a:solidFill>
                <a:latin typeface="Helvetica Neue"/>
                <a:ea typeface="Helvetica Neue"/>
                <a:cs typeface="Helvetica Neue"/>
              </a:rPr>
              <a:t>Developer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423160"/>
            <a:ext cx="47548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26A00"/>
                </a:solidFill>
                <a:latin typeface="Helvetica"/>
                <a:ea typeface="Helvetica"/>
                <a:cs typeface="Helvetica"/>
              </a:rPr>
              <a:t>Powered by Cursor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834640"/>
            <a:ext cx="47548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5C5C5C"/>
                </a:solidFill>
                <a:latin typeface="Helvetica"/>
                <a:ea typeface="Helvetica"/>
                <a:cs typeface="Helvetica"/>
              </a:rPr>
              <a:t>Ships features daily in Cursor.
Still freezes on a stranger's repo.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874519"/>
            <a:ext cx="5349240" cy="19659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874519"/>
            <a:ext cx="73152" cy="1965960"/>
          </a:xfrm>
          <a:prstGeom prst="rect">
            <a:avLst/>
          </a:prstGeom>
          <a:solidFill>
            <a:srgbClr val="C2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2011680"/>
            <a:ext cx="47548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41414"/>
                </a:solidFill>
                <a:latin typeface="Helvetica Neue"/>
                <a:ea typeface="Helvetica Neue"/>
                <a:cs typeface="Helvetica Neue"/>
              </a:rPr>
              <a:t>Non-developer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423160"/>
            <a:ext cx="47548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26A00"/>
                </a:solidFill>
                <a:latin typeface="Helvetica"/>
                <a:ea typeface="Helvetica"/>
                <a:cs typeface="Helvetica"/>
              </a:rPr>
              <a:t>Powered by Cursor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834640"/>
            <a:ext cx="47548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5C5C5C"/>
                </a:solidFill>
                <a:latin typeface="Helvetica"/>
                <a:ea typeface="Helvetica"/>
                <a:cs typeface="Helvetica"/>
              </a:rPr>
              <a:t>Cursor helps them build.
Still lost in a huge stranger's repo.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069080"/>
            <a:ext cx="1088136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 i="1">
                <a:solidFill>
                  <a:srgbClr val="141414"/>
                </a:solidFill>
                <a:latin typeface="Helvetica Neue"/>
                <a:ea typeface="Helvetica Neue"/>
                <a:cs typeface="Helvetica Neue"/>
              </a:rPr>
              <a:t>Both want to contribute. Neither knows where to start.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663440"/>
            <a:ext cx="73152" cy="1234440"/>
          </a:xfrm>
          <a:prstGeom prst="rect">
            <a:avLst/>
          </a:prstGeom>
          <a:solidFill>
            <a:srgbClr val="A83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663440"/>
            <a:ext cx="33832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41414"/>
                </a:solidFill>
                <a:latin typeface="Helvetica Neue"/>
                <a:ea typeface="Helvetica Neue"/>
                <a:cs typeface="Helvetica Neue"/>
              </a:rPr>
              <a:t>Where do I start?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5074920"/>
            <a:ext cx="33832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5C5C5C"/>
                </a:solidFill>
                <a:latin typeface="Helvetica"/>
                <a:ea typeface="Helvetica"/>
                <a:cs typeface="Helvetica"/>
              </a:rPr>
              <a:t>Hundreds of issues. No map.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34840" y="4663440"/>
            <a:ext cx="73152" cy="1234440"/>
          </a:xfrm>
          <a:prstGeom prst="rect">
            <a:avLst/>
          </a:prstGeom>
          <a:solidFill>
            <a:srgbClr val="A83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63440" y="4663440"/>
            <a:ext cx="33832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41414"/>
                </a:solidFill>
                <a:latin typeface="Helvetica Neue"/>
                <a:ea typeface="Helvetica Neue"/>
                <a:cs typeface="Helvetica Neue"/>
              </a:rPr>
              <a:t>What if I break their rules?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3440" y="5074920"/>
            <a:ext cx="33832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5C5C5C"/>
                </a:solidFill>
                <a:latin typeface="Helvetica"/>
                <a:ea typeface="Helvetica"/>
                <a:cs typeface="Helvetica"/>
              </a:rPr>
              <a:t>Maintainers close the PR.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0" y="4663440"/>
            <a:ext cx="73152" cy="1234440"/>
          </a:xfrm>
          <a:prstGeom prst="rect">
            <a:avLst/>
          </a:prstGeom>
          <a:solidFill>
            <a:srgbClr val="A83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58200" y="4663440"/>
            <a:ext cx="33832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41414"/>
                </a:solidFill>
                <a:latin typeface="Helvetica Neue"/>
                <a:ea typeface="Helvetica Neue"/>
                <a:cs typeface="Helvetica Neue"/>
              </a:rPr>
              <a:t>Huge, scary repo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58200" y="5074920"/>
            <a:ext cx="33832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5C5C5C"/>
                </a:solidFill>
                <a:latin typeface="Helvetica"/>
                <a:ea typeface="Helvetica"/>
                <a:cs typeface="Helvetica"/>
              </a:rPr>
              <a:t>Thousands of files. Freeze.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A9A9A"/>
                </a:solidFill>
                <a:latin typeface="Helvetica"/>
                <a:ea typeface="Helvetica"/>
                <a:cs typeface="Helvetica"/>
              </a:rPr>
              <a:t>roboforeman  ·  SmartSense  ·  Cursor Hackathon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A9A9A"/>
                </a:solidFill>
                <a:latin typeface="Helvetica"/>
                <a:ea typeface="Helvetica"/>
                <a:cs typeface="Helvetica"/>
              </a:rPr>
              <a:t>02 / 07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02920"/>
            <a:ext cx="502920" cy="73152"/>
          </a:xfrm>
          <a:prstGeom prst="rect">
            <a:avLst/>
          </a:prstGeom>
          <a:solidFill>
            <a:srgbClr val="C2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5486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26A00"/>
                </a:solidFill>
                <a:latin typeface="Helvetica"/>
                <a:ea typeface="Helvetica"/>
                <a:cs typeface="Helvetica"/>
              </a:rPr>
              <a:t>ENTER ROBOFOREMAN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1078992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41414"/>
                </a:solidFill>
                <a:latin typeface="Helvetica Neue"/>
                <a:ea typeface="Helvetica Neue"/>
                <a:cs typeface="Helvetica Neue"/>
              </a:rPr>
              <a:t>Roboforeman is your foreman — inside Cursor.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48840"/>
            <a:ext cx="73152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C26A00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148840"/>
            <a:ext cx="96012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41414"/>
                </a:solidFill>
                <a:latin typeface="Helvetica Neue"/>
                <a:ea typeface="Helvetica Neue"/>
                <a:cs typeface="Helvetica Neue"/>
              </a:rPr>
              <a:t>You pick any open issue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560320"/>
            <a:ext cx="96012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5C5C5C"/>
                </a:solidFill>
                <a:latin typeface="Helvetica"/>
                <a:ea typeface="Helvetica"/>
                <a:cs typeface="Helvetica"/>
              </a:rPr>
              <a:t>Any task already open in the repo — your choice.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73152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C26A00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3108960"/>
            <a:ext cx="96012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41414"/>
                </a:solidFill>
                <a:latin typeface="Helvetica Neue"/>
                <a:ea typeface="Helvetica Neue"/>
                <a:cs typeface="Helvetica Neue"/>
              </a:rPr>
              <a:t>Learns the project's rulebook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520440"/>
            <a:ext cx="96012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5C5C5C"/>
                </a:solidFill>
                <a:latin typeface="Helvetica"/>
                <a:ea typeface="Helvetica"/>
                <a:cs typeface="Helvetica"/>
              </a:rPr>
              <a:t>Contributing guide, conventions, how they ship.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069080"/>
            <a:ext cx="73152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C26A00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4069080"/>
            <a:ext cx="96012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41414"/>
                </a:solidFill>
                <a:latin typeface="Helvetica Neue"/>
                <a:ea typeface="Helvetica Neue"/>
                <a:cs typeface="Helvetica Neue"/>
              </a:rPr>
              <a:t>Briefs Cursor's AI to build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4480560"/>
            <a:ext cx="96012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5C5C5C"/>
                </a:solidFill>
                <a:latin typeface="Helvetica"/>
                <a:ea typeface="Helvetica"/>
                <a:cs typeface="Helvetica"/>
              </a:rPr>
              <a:t>Cursor's agent implements the fix — their way.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212080"/>
            <a:ext cx="10881360" cy="7315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349240"/>
            <a:ext cx="1033272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You choose the work. Roboforeman + Cursor help you ship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A9A9A"/>
                </a:solidFill>
                <a:latin typeface="Helvetica"/>
                <a:ea typeface="Helvetica"/>
                <a:cs typeface="Helvetica"/>
              </a:rPr>
              <a:t>roboforeman  ·  SmartSense  ·  Cursor Hackathon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A9A9A"/>
                </a:solidFill>
                <a:latin typeface="Helvetica"/>
                <a:ea typeface="Helvetica"/>
                <a:cs typeface="Helvetica"/>
              </a:rPr>
              <a:t>03 / 07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2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9144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26A00"/>
                </a:solidFill>
                <a:latin typeface="Helvetica"/>
                <a:ea typeface="Helvetica"/>
                <a:cs typeface="Helvetica"/>
              </a:rPr>
              <a:t>DEMO  ·  INSIDE CURSOR  ·  6× FAST-FORWARD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pick issue  →  brief  →  build  →  clean PR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7863840" cy="4800600"/>
          </a:xfrm>
          <a:prstGeom prst="rect">
            <a:avLst/>
          </a:prstGeom>
          <a:solidFill>
            <a:srgbClr val="2A2A28"/>
          </a:solidFill>
          <a:ln w="12700">
            <a:solidFill>
              <a:srgbClr val="3A3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lay-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639" y="3063240"/>
            <a:ext cx="1005840" cy="10058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05840" y="4297680"/>
            <a:ext cx="713232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9A9A9A"/>
                </a:solidFill>
                <a:latin typeface="Helvetica"/>
                <a:ea typeface="Helvetica"/>
                <a:cs typeface="Helvetica"/>
              </a:rPr>
              <a:t>Drop your Cursor demo video here
(fallback stills: issue + draft PR)</a:t>
            </a:r>
          </a:p>
        </p:txBody>
      </p:sp>
      <p:sp>
        <p:nvSpPr>
          <p:cNvPr id="9" name="Rectangle 8"/>
          <p:cNvSpPr/>
          <p:nvPr/>
        </p:nvSpPr>
        <p:spPr>
          <a:xfrm>
            <a:off x="8778240" y="1325880"/>
            <a:ext cx="73152" cy="960120"/>
          </a:xfrm>
          <a:prstGeom prst="rect">
            <a:avLst/>
          </a:prstGeom>
          <a:solidFill>
            <a:srgbClr val="C2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52560" y="1325880"/>
            <a:ext cx="26517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26A00"/>
                </a:solidFill>
                <a:latin typeface="Helvetica"/>
                <a:ea typeface="Helvetica"/>
                <a:cs typeface="Helvetica"/>
              </a:rPr>
              <a:t>01  You pick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1645920"/>
            <a:ext cx="26517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C8C8C0"/>
                </a:solidFill>
                <a:latin typeface="Helvetica"/>
                <a:ea typeface="Helvetica"/>
                <a:cs typeface="Helvetica"/>
              </a:rPr>
              <a:t>Any open issue / task in the repo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78240" y="2468880"/>
            <a:ext cx="73152" cy="960120"/>
          </a:xfrm>
          <a:prstGeom prst="rect">
            <a:avLst/>
          </a:prstGeom>
          <a:solidFill>
            <a:srgbClr val="C2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52560" y="2468880"/>
            <a:ext cx="26517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26A00"/>
                </a:solidFill>
                <a:latin typeface="Helvetica"/>
                <a:ea typeface="Helvetica"/>
                <a:cs typeface="Helvetica"/>
              </a:rPr>
              <a:t>02  Brief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2560" y="2788920"/>
            <a:ext cx="26517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C8C8C0"/>
                </a:solidFill>
                <a:latin typeface="Helvetica"/>
                <a:ea typeface="Helvetica"/>
                <a:cs typeface="Helvetica"/>
              </a:rPr>
              <a:t>Roboforeman learns their rulebook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40" y="3611880"/>
            <a:ext cx="73152" cy="960120"/>
          </a:xfrm>
          <a:prstGeom prst="rect">
            <a:avLst/>
          </a:prstGeom>
          <a:solidFill>
            <a:srgbClr val="C2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0" y="3611880"/>
            <a:ext cx="26517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26A00"/>
                </a:solidFill>
                <a:latin typeface="Helvetica"/>
                <a:ea typeface="Helvetica"/>
                <a:cs typeface="Helvetica"/>
              </a:rPr>
              <a:t>03  Build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3931920"/>
            <a:ext cx="26517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C8C8C0"/>
                </a:solidFill>
                <a:latin typeface="Helvetica"/>
                <a:ea typeface="Helvetica"/>
                <a:cs typeface="Helvetica"/>
              </a:rPr>
              <a:t>Cursor's agent implements the fix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778240" y="4754880"/>
            <a:ext cx="73152" cy="960120"/>
          </a:xfrm>
          <a:prstGeom prst="rect">
            <a:avLst/>
          </a:prstGeom>
          <a:solidFill>
            <a:srgbClr val="C2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52560" y="4754880"/>
            <a:ext cx="26517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26A00"/>
                </a:solidFill>
                <a:latin typeface="Helvetica"/>
                <a:ea typeface="Helvetica"/>
                <a:cs typeface="Helvetica"/>
              </a:rPr>
              <a:t>04  Clean PR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5074920"/>
            <a:ext cx="26517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C8C8C0"/>
                </a:solidFill>
                <a:latin typeface="Helvetica"/>
                <a:ea typeface="Helvetica"/>
                <a:cs typeface="Helvetica"/>
              </a:rPr>
              <a:t>Draft PR — no AI config in the diff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02920"/>
            <a:ext cx="502920" cy="73152"/>
          </a:xfrm>
          <a:prstGeom prst="rect">
            <a:avLst/>
          </a:prstGeom>
          <a:solidFill>
            <a:srgbClr val="C2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26A00"/>
                </a:solidFill>
                <a:latin typeface="Helvetica"/>
                <a:ea typeface="Helvetica"/>
                <a:cs typeface="Helvetica"/>
              </a:rPr>
              <a:t>WHY NOT JUST PROMPT CURSOR?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1078992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 i="1">
                <a:solidFill>
                  <a:srgbClr val="141414"/>
                </a:solidFill>
                <a:latin typeface="Helvetica Neue"/>
                <a:ea typeface="Helvetica Neue"/>
                <a:cs typeface="Helvetica Neue"/>
              </a:rPr>
              <a:t>"Couldn't I just prompt this?"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881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5C5C5C"/>
                </a:solidFill>
                <a:latin typeface="Helvetica Neue"/>
                <a:ea typeface="Helvetica Neue"/>
                <a:cs typeface="Helvetica Neue"/>
              </a:rPr>
              <a:t>Matching their rules + a PR that passes review = the hard part.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514600"/>
            <a:ext cx="5212080" cy="2606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743200"/>
            <a:ext cx="4572000" cy="2194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1" i="0">
                <a:solidFill>
                  <a:srgbClr val="141414"/>
                </a:solidFill>
                <a:latin typeface="Helvetica Neue"/>
                <a:ea typeface="Helvetica Neue"/>
                <a:cs typeface="Helvetica Neue"/>
              </a:rPr>
              <a:t>Prompting bits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5C5C5C"/>
                </a:solidFill>
                <a:latin typeface="Helvetica"/>
                <a:ea typeface="Helvetica"/>
                <a:cs typeface="Helvetica"/>
              </a:rPr>
              <a:t>Sure — you can ask Cursor pieces.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5C5C5C"/>
                </a:solidFill>
                <a:latin typeface="Helvetica"/>
                <a:ea typeface="Helvetica"/>
                <a:cs typeface="Helvetica"/>
              </a:rPr>
              <a:t>Remember every convention,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5C5C5C"/>
                </a:solidFill>
                <a:latin typeface="Helvetica"/>
                <a:ea typeface="Helvetica"/>
                <a:cs typeface="Helvetica"/>
              </a:rPr>
              <a:t>every time — and never leak config.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514600"/>
            <a:ext cx="5212080" cy="260604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2743200"/>
            <a:ext cx="4572000" cy="2194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1" i="0">
                <a:solidFill>
                  <a:srgbClr val="C26A00"/>
                </a:solidFill>
                <a:latin typeface="Helvetica Neue"/>
                <a:ea typeface="Helvetica Neue"/>
                <a:cs typeface="Helvetica Neue"/>
              </a:rPr>
              <a:t>One foreman, any site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Helvetica"/>
                <a:ea typeface="Helvetica"/>
                <a:cs typeface="Helvetica"/>
              </a:rPr>
              <a:t>OSS contribution — their rules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Helvetica"/>
                <a:ea typeface="Helvetica"/>
                <a:cs typeface="Helvetica"/>
              </a:rPr>
              <a:t>Your own repo — same briefing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9A9A9A"/>
                </a:solidFill>
                <a:latin typeface="Helvetica"/>
                <a:ea typeface="Helvetica"/>
                <a:cs typeface="Helvetica"/>
              </a:rPr>
              <a:t>Always directing Cursor's 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394960"/>
            <a:ext cx="10881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 i="1">
                <a:solidFill>
                  <a:srgbClr val="141414"/>
                </a:solidFill>
                <a:latin typeface="Helvetica Neue"/>
                <a:ea typeface="Helvetica Neue"/>
                <a:cs typeface="Helvetica Neue"/>
              </a:rPr>
              <a:t>Same foreman also preps your own repo — so you build features faster inside Cursor.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A9A9A"/>
                </a:solidFill>
                <a:latin typeface="Helvetica"/>
                <a:ea typeface="Helvetica"/>
                <a:cs typeface="Helvetica"/>
              </a:rPr>
              <a:t>roboforeman  ·  SmartSense  ·  Cursor Hackathon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A9A9A"/>
                </a:solidFill>
                <a:latin typeface="Helvetica"/>
                <a:ea typeface="Helvetica"/>
                <a:cs typeface="Helvetica"/>
              </a:rPr>
              <a:t>05 / 07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02920"/>
            <a:ext cx="502920" cy="73152"/>
          </a:xfrm>
          <a:prstGeom prst="rect">
            <a:avLst/>
          </a:prstGeom>
          <a:solidFill>
            <a:srgbClr val="C2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5486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26A00"/>
                </a:solidFill>
                <a:latin typeface="Helvetica"/>
                <a:ea typeface="Helvetica"/>
                <a:cs typeface="Helvetica"/>
              </a:rPr>
              <a:t>UNDER THE HOOD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107899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141414"/>
                </a:solidFill>
                <a:latin typeface="Helvetica Neue"/>
                <a:ea typeface="Helvetica Neue"/>
                <a:cs typeface="Helvetica Neue"/>
              </a:rPr>
              <a:t>Fun on top. Real engineering underneath.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813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C26A00"/>
                </a:solidFill>
                <a:latin typeface="Helvetica Neue"/>
                <a:ea typeface="Helvetica Neue"/>
                <a:cs typeface="Helvetica Neue"/>
              </a:rPr>
              <a:t>Built ON Cursor:  skills  ·  agent  ·  hooks  ·  Canvas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331720"/>
            <a:ext cx="73152" cy="2286000"/>
          </a:xfrm>
          <a:prstGeom prst="rect">
            <a:avLst/>
          </a:prstGeom>
          <a:solidFill>
            <a:srgbClr val="C2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50292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141414"/>
                </a:solidFill>
                <a:latin typeface="Helvetica Neue"/>
                <a:ea typeface="Helvetica Neue"/>
                <a:cs typeface="Helvetica Neue"/>
              </a:rPr>
              <a:t>AI judgment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80360"/>
            <a:ext cx="50292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5C5C5C"/>
                </a:solidFill>
                <a:latin typeface="Helvetica"/>
                <a:ea typeface="Helvetica"/>
                <a:cs typeface="Helvetica"/>
              </a:rPr>
              <a:t>Cursor's agent reads code + CONTRIBUTING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337560"/>
            <a:ext cx="50292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5C5C5C"/>
                </a:solidFill>
                <a:latin typeface="Helvetica"/>
                <a:ea typeface="Helvetica"/>
                <a:cs typeface="Helvetica"/>
              </a:rPr>
              <a:t>Exa → live stack docs, not stale guesses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794760"/>
            <a:ext cx="50292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5C5C5C"/>
                </a:solidFill>
                <a:latin typeface="Helvetica"/>
                <a:ea typeface="Helvetica"/>
                <a:cs typeface="Helvetica"/>
              </a:rPr>
              <a:t>Briefs the builder — doesn't replace 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2331720"/>
            <a:ext cx="73152" cy="2286000"/>
          </a:xfrm>
          <a:prstGeom prst="rect">
            <a:avLst/>
          </a:prstGeom>
          <a:solidFill>
            <a:srgbClr val="C2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2331720"/>
            <a:ext cx="50292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141414"/>
                </a:solidFill>
                <a:latin typeface="Helvetica Neue"/>
                <a:ea typeface="Helvetica Neue"/>
                <a:cs typeface="Helvetica Neue"/>
              </a:rPr>
              <a:t>Deterministic trust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880360"/>
            <a:ext cx="50292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5C5C5C"/>
                </a:solidFill>
                <a:latin typeface="Helvetica"/>
                <a:ea typeface="Helvetica"/>
                <a:cs typeface="Helvetica"/>
              </a:rPr>
              <a:t>Never-clobber + one-command undo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3337560"/>
            <a:ext cx="50292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5C5C5C"/>
                </a:solidFill>
                <a:latin typeface="Helvetica"/>
                <a:ea typeface="Helvetica"/>
                <a:cs typeface="Helvetica"/>
              </a:rPr>
              <a:t>No AI-config pollution on OSS PRs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3794760"/>
            <a:ext cx="50292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5C5C5C"/>
                </a:solidFill>
                <a:latin typeface="Helvetica"/>
                <a:ea typeface="Helvetica"/>
                <a:cs typeface="Helvetica"/>
              </a:rPr>
              <a:t>Tested detection &amp; merge plumbing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029200"/>
            <a:ext cx="10881360" cy="868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166360"/>
            <a:ext cx="1033272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41414"/>
                </a:solidFill>
                <a:latin typeface="Helvetica"/>
                <a:ea typeface="Helvetica"/>
                <a:cs typeface="Helvetica"/>
              </a:rPr>
              <a:t>Exa  ·  ElevenLabs (the foreman speaks)  ·  Render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A9A9A"/>
                </a:solidFill>
                <a:latin typeface="Helvetica"/>
                <a:ea typeface="Helvetica"/>
                <a:cs typeface="Helvetica"/>
              </a:rPr>
              <a:t>roboforeman  ·  SmartSense  ·  Cursor Hackathon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A9A9A"/>
                </a:solidFill>
                <a:latin typeface="Helvetica"/>
                <a:ea typeface="Helvetica"/>
                <a:cs typeface="Helvetica"/>
              </a:rPr>
              <a:t>06 / 07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2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hardhat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1097280"/>
            <a:ext cx="777240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2103120"/>
            <a:ext cx="1069848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Your first open-source PR
is one command away.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66160"/>
            <a:ext cx="106984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C26A00"/>
                </a:solidFill>
                <a:latin typeface="Helvetica Neue"/>
                <a:ea typeface="Helvetica Neue"/>
                <a:cs typeface="Helvetica Neue"/>
              </a:rPr>
              <a:t>Can we fix your repo? Yes we can.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297680"/>
            <a:ext cx="99669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C8C8C0"/>
                </a:solidFill>
                <a:latin typeface="Helvetica"/>
                <a:ea typeface="Helvetica"/>
                <a:cs typeface="Helvetica"/>
              </a:rPr>
              <a:t>You pick the issue. Roboforeman briefs Cursor's agent.
Everything happens inside Cursor.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212080"/>
            <a:ext cx="106984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C26A00"/>
                </a:solidFill>
                <a:latin typeface="Helvetica Neue"/>
                <a:ea typeface="Helvetica Neue"/>
                <a:cs typeface="Helvetica Neue"/>
              </a:rPr>
              <a:t>roboforeman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715000"/>
            <a:ext cx="106984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A9A9A"/>
                </a:solidFill>
                <a:latin typeface="Helvetica"/>
                <a:ea typeface="Helvetica"/>
                <a:cs typeface="Helvetica"/>
              </a:rPr>
              <a:t>SmartSense  ·  Built on Cursor  ·  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